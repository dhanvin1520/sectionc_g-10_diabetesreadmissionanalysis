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194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D61C6-10D8-327B-9203-CEA1F78B1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032546-EB95-7360-6658-1D85318BE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42D6B-BD42-1BC6-FAD6-DEB5BB19C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70270-3D3F-014F-8E03-4E9D03B8EFA6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F6D4A-3D56-0B02-0BA2-EEAC5D1D1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F11C4-2656-8204-F1A3-99579A0C5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05CF3-B08C-EA47-B6C3-D52ACC070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140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D5C3-94AA-F8AA-C7FF-EC4A6FD46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D17EF-3E66-F49A-BF27-302F4BF2F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E70E5-1F4A-63A0-5A91-A82E7C2B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70270-3D3F-014F-8E03-4E9D03B8EFA6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E3D06-A62A-9AF9-03EA-D1BF3B798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4B7C1-29F0-292C-FDEC-533F921C2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05CF3-B08C-EA47-B6C3-D52ACC070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17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F75D1-C2B3-8313-77C8-F641C7C3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18E4C-2D5C-7B23-0F69-E1618A3BE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48E11-7C96-CEB4-A383-0928E87F4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70270-3D3F-014F-8E03-4E9D03B8EFA6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848A6-265E-6EB5-E558-396C870F5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D2170-51A4-42EE-9BB9-21F624A2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05CF3-B08C-EA47-B6C3-D52ACC070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173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1F9CA-5C82-D3EA-1B7A-C7E2851F2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51AB9-1943-9086-23DF-452CCE4E5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DDD63-F2FD-5A50-0200-CFA9378D1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2546C-B4DD-4264-43B2-680694C4C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70270-3D3F-014F-8E03-4E9D03B8EFA6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D91B1-6F28-4498-DF65-A75A3899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C79B6-147C-FD17-0811-D717E632D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05CF3-B08C-EA47-B6C3-D52ACC070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3114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0ACB5-542E-F764-DD7A-2A042F292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5A26-35EB-DE81-94AC-492757000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D9F82-FA20-E957-A47E-5CFB97D60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283F8A-B5E3-3846-CFE8-04642381F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E1D4E-7AC0-E2D5-DC19-81DEF2FD8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F2EB38-1055-A623-1252-A2A931A81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70270-3D3F-014F-8E03-4E9D03B8EFA6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F2911F-1DF4-0A62-B2DB-9DC04FD3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FB5F34-EB33-0959-8896-0E8673D96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05CF3-B08C-EA47-B6C3-D52ACC070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7967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332FC-3BF6-A6C1-C69A-E6BD36C61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08F7A6-E7EA-234D-9266-7EAD7D86B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70270-3D3F-014F-8E03-4E9D03B8EFA6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F6D93B-8769-0EC9-46F0-E82FE397F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000CE-A03E-E4B3-C12E-4EA8278E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05CF3-B08C-EA47-B6C3-D52ACC070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22744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121020-B748-115C-FCB8-F6331DDB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70270-3D3F-014F-8E03-4E9D03B8EFA6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6F7D5-E127-9F16-AFF0-423AF69F1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77815-4F27-086A-D43F-55AA96B48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05CF3-B08C-EA47-B6C3-D52ACC070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4826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AB71A-982E-D353-584D-4D0E5FF9B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9C3C9-EFF0-4B49-A922-0EFB870EA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3B329-B6AB-2DCE-1C6F-2B0E4B8B1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E1575-2DA6-340D-1D2B-958CFEB9A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70270-3D3F-014F-8E03-4E9D03B8EFA6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2EE40-AAD0-3961-68BE-966196ADA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B6708-C56C-8B50-0CDF-9286A8F93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05CF3-B08C-EA47-B6C3-D52ACC070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4320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494CD-7BFC-A96C-3E35-B35F71C12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D3D39D-8430-C38A-8A41-0ABCEAFB4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04B3A2-2C91-202F-5095-2EE78516D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44AA1-9560-BD7E-2E59-FE18073A3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70270-3D3F-014F-8E03-4E9D03B8EFA6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ED933-FE1A-F98A-ED68-8B01E191C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240B7-1DA4-54ED-B28A-99DAE3CA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05CF3-B08C-EA47-B6C3-D52ACC070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7165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E2848-1042-70DA-C70D-CF6E2628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2A84E-6E3C-DBD1-4F5A-31252F735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95E12-9CF7-7253-003F-0BF3236BE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70270-3D3F-014F-8E03-4E9D03B8EFA6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2C0B1-569C-DBCC-6955-CBAFD19A0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F0DC3-EA23-41B4-018A-0E648B0CA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05CF3-B08C-EA47-B6C3-D52ACC070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865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5C2E3B-77D8-D2FE-99C8-C926846EEE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7E626B-C11D-5ED5-DDBE-68FD88AFA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62C6F-E14E-D7C1-DB89-8EB5845CC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70270-3D3F-014F-8E03-4E9D03B8EFA6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BC0E2-3E5E-3CF0-A53E-542DD0A48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C8E0E-38FD-041A-DEE8-8795BC61A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05CF3-B08C-EA47-B6C3-D52ACC070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7260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966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130FE1-ADCC-1BAA-9EA6-670DAB1ED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D4D68-863F-395F-CFC8-FB1C29D6E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97D58-EECC-382A-6C1F-2C148EF02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70270-3D3F-014F-8E03-4E9D03B8EFA6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B7AC0-EC45-6653-23AE-E72EB3EC2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21DD4-4714-B5A1-A39F-22A7D1D66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A05CF3-B08C-EA47-B6C3-D52ACC070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16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hanvin1520/SectionC_G-10_DiabetesReadmissionAnalysi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ublic.tableau.com/app/profile/ayush.mittal4873/viz/DVACapstoneDiabetesReadmissionAnalysis_v2025_3/Dashboard_Executive_Overview?publish=ye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3A41B73-A357-ED10-F9A4-F6AE5B12C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362" y="0"/>
            <a:ext cx="401863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98D48E-47AE-0E21-B284-3229AB6D5F01}"/>
              </a:ext>
            </a:extLst>
          </p:cNvPr>
          <p:cNvSpPr txBox="1"/>
          <p:nvPr/>
        </p:nvSpPr>
        <p:spPr>
          <a:xfrm>
            <a:off x="271863" y="1166026"/>
            <a:ext cx="41525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Readmission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034C60CA-3C6C-E803-9D91-F121BEA0160E}"/>
              </a:ext>
            </a:extLst>
          </p:cNvPr>
          <p:cNvSpPr/>
          <p:nvPr/>
        </p:nvSpPr>
        <p:spPr>
          <a:xfrm>
            <a:off x="370105" y="622997"/>
            <a:ext cx="2388210" cy="378067"/>
          </a:xfrm>
          <a:prstGeom prst="rect">
            <a:avLst/>
          </a:prstGeom>
          <a:solidFill>
            <a:srgbClr val="6BBF9E"/>
          </a:solidFill>
          <a:ln w="12700">
            <a:solidFill>
              <a:srgbClr val="6BBF9E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ANALYTIS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A2716CE-2092-A355-9E1F-97DFD77EDAB9}"/>
              </a:ext>
            </a:extLst>
          </p:cNvPr>
          <p:cNvSpPr/>
          <p:nvPr/>
        </p:nvSpPr>
        <p:spPr>
          <a:xfrm>
            <a:off x="2995980" y="622997"/>
            <a:ext cx="1428468" cy="378067"/>
          </a:xfrm>
          <a:prstGeom prst="rect">
            <a:avLst/>
          </a:prstGeom>
          <a:solidFill>
            <a:srgbClr val="4AA8A8"/>
          </a:solidFill>
          <a:ln w="12700">
            <a:solidFill>
              <a:srgbClr val="4AA8A8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TEAM G-10</a:t>
            </a:r>
            <a:endParaRPr lang="en-US" dirty="0"/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1412BA-D25F-F46D-222A-8BDE5ABA668A}"/>
              </a:ext>
            </a:extLst>
          </p:cNvPr>
          <p:cNvSpPr txBox="1"/>
          <p:nvPr/>
        </p:nvSpPr>
        <p:spPr>
          <a:xfrm>
            <a:off x="370105" y="1630053"/>
            <a:ext cx="29153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Clinical &amp; Demographic Patterns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11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30-Day Hospital Readmissions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04811E-5989-D8EB-A538-AB666C42D375}"/>
              </a:ext>
            </a:extLst>
          </p:cNvPr>
          <p:cNvSpPr txBox="1"/>
          <p:nvPr/>
        </p:nvSpPr>
        <p:spPr>
          <a:xfrm>
            <a:off x="317016" y="2543652"/>
            <a:ext cx="45122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Dhanvin (Team Lead), Ayush Mittal ,Tanish Garg, Gargi Srivastava, </a:t>
            </a:r>
            <a:br>
              <a:rPr lang="en-US" sz="1200" dirty="0">
                <a:solidFill>
                  <a:schemeClr val="accent6"/>
                </a:solidFill>
              </a:rPr>
            </a:br>
            <a:r>
              <a:rPr lang="en-US" sz="1200" dirty="0">
                <a:solidFill>
                  <a:schemeClr val="accent6"/>
                </a:solidFill>
              </a:rPr>
              <a:t>Sumit Yadav , Lakshya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A4300AE-C380-E4B8-BCBB-DA234D7190AD}"/>
              </a:ext>
            </a:extLst>
          </p:cNvPr>
          <p:cNvSpPr/>
          <p:nvPr/>
        </p:nvSpPr>
        <p:spPr>
          <a:xfrm>
            <a:off x="317016" y="2170720"/>
            <a:ext cx="1469842" cy="292388"/>
          </a:xfrm>
          <a:prstGeom prst="rect">
            <a:avLst/>
          </a:prstGeom>
          <a:solidFill>
            <a:srgbClr val="4AA8A8"/>
          </a:solidFill>
          <a:ln w="12700">
            <a:solidFill>
              <a:srgbClr val="4AA8A8"/>
            </a:solidFill>
            <a:prstDash val="solid"/>
          </a:ln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Team Members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63DF8E-E809-A2C2-142A-0AEE2A2352B6}"/>
              </a:ext>
            </a:extLst>
          </p:cNvPr>
          <p:cNvSpPr txBox="1"/>
          <p:nvPr/>
        </p:nvSpPr>
        <p:spPr>
          <a:xfrm>
            <a:off x="202905" y="3064836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Mentor: </a:t>
            </a: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 Raj</a:t>
            </a:r>
            <a:endParaRPr lang="en-US" sz="1300" dirty="0">
              <a:solidFill>
                <a:schemeClr val="accent3"/>
              </a:solidFill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AF08FA28-DC34-E25F-9B15-492CC9F7CB0A}"/>
              </a:ext>
            </a:extLst>
          </p:cNvPr>
          <p:cNvSpPr/>
          <p:nvPr/>
        </p:nvSpPr>
        <p:spPr>
          <a:xfrm>
            <a:off x="317016" y="3598414"/>
            <a:ext cx="4208697" cy="322863"/>
          </a:xfrm>
          <a:prstGeom prst="rect">
            <a:avLst/>
          </a:prstGeom>
          <a:solidFill>
            <a:srgbClr val="6BBF9E"/>
          </a:solidFill>
          <a:ln w="12700">
            <a:solidFill>
              <a:srgbClr val="6BBF9E"/>
            </a:solidFill>
            <a:prstDash val="solid"/>
          </a:ln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GitHub:  </a:t>
            </a:r>
            <a:r>
              <a:rPr lang="en-US" sz="1000" u="sng" dirty="0">
                <a:hlinkClick r:id="rId3"/>
              </a:rPr>
              <a:t>SectionCG10_DiabetsReadmission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45E6921E-1F8C-BA88-5E27-981D90590D70}"/>
              </a:ext>
            </a:extLst>
          </p:cNvPr>
          <p:cNvSpPr/>
          <p:nvPr/>
        </p:nvSpPr>
        <p:spPr>
          <a:xfrm>
            <a:off x="317015" y="4192621"/>
            <a:ext cx="3801563" cy="322863"/>
          </a:xfrm>
          <a:prstGeom prst="rect">
            <a:avLst/>
          </a:prstGeom>
          <a:solidFill>
            <a:srgbClr val="1A4A4A"/>
          </a:solidFill>
          <a:ln w="12700">
            <a:solidFill>
              <a:srgbClr val="1A4A4A"/>
            </a:solidFill>
            <a:prstDash val="solid"/>
          </a:ln>
        </p:spPr>
        <p:txBody>
          <a:bodyPr/>
          <a:lstStyle/>
          <a:p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Tableau</a:t>
            </a: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030274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64008" cy="822960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— and what we set out to 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411480"/>
          </a:xfrm>
          <a:prstGeom prst="rect">
            <a:avLst/>
          </a:prstGeom>
          <a:solidFill>
            <a:srgbClr val="1A4A4A"/>
          </a:solidFill>
          <a:ln w="12700">
            <a:solidFill>
              <a:srgbClr val="1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Context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2743200" cy="3291840"/>
          </a:xfrm>
          <a:prstGeom prst="rect">
            <a:avLst/>
          </a:prstGeom>
          <a:solidFill>
            <a:srgbClr val="F7FAFA"/>
          </a:solidFill>
          <a:ln w="9525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hospitals face multi-million dollar penalties under the Hospital Readmissions Reduction Program (HRRP)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30-day readmissions signal failures in discharge quality and post-acute care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patients face compounded risk due to multiple comorbidities (circulatory, metabolic)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care mandates demand measurable outcome improvements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72968" y="1097280"/>
            <a:ext cx="2743200" cy="411480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508760"/>
            <a:ext cx="2743200" cy="3291840"/>
          </a:xfrm>
          <a:prstGeom prst="rect">
            <a:avLst/>
          </a:prstGeom>
          <a:solidFill>
            <a:srgbClr val="E8F5F5"/>
          </a:solidFill>
          <a:ln w="9525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64408" y="160020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clinical history, medication patterns, and demographics accurately predict 30-day readmission risk in diabetic patients?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patient segments are most likely to return within 30 days of discharge?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specific clinical interventions reduce return rates most efficiently?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71616" y="1097280"/>
            <a:ext cx="2743200" cy="411480"/>
          </a:xfrm>
          <a:prstGeom prst="rect">
            <a:avLst/>
          </a:prstGeom>
          <a:solidFill>
            <a:srgbClr val="6BBF9E"/>
          </a:solidFill>
          <a:ln w="12700">
            <a:solidFill>
              <a:srgbClr val="6BB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44768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71616" y="1508760"/>
            <a:ext cx="2743200" cy="3291840"/>
          </a:xfrm>
          <a:prstGeom prst="rect">
            <a:avLst/>
          </a:prstGeom>
          <a:solidFill>
            <a:srgbClr val="F7FAFA"/>
          </a:solidFill>
          <a:ln w="9525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63056" y="160020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Move from generic discharge protocols to a risk-stratified approach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CMOs in identifying high-risk patients before discharge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CFOs with data-backed penalty avoidance strategies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Discharge Planners with actionable, patient-level risk flags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4A4A"/>
          </a:solidFill>
          <a:ln w="12700">
            <a:solidFill>
              <a:srgbClr val="1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97433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School of Technology | DVA Capstone | Team G-10 (Section C)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229600" y="497433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G-10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64008" cy="822960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Engineering: Source to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Diabetes 130-US Hospitals Dataset | Python ETL |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965960" cy="822960"/>
          </a:xfrm>
          <a:prstGeom prst="rect">
            <a:avLst/>
          </a:prstGeom>
          <a:solidFill>
            <a:srgbClr val="E8F5F5"/>
          </a:solidFill>
          <a:ln w="12700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1965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101,763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150418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Encounters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1051560"/>
            <a:ext cx="1965960" cy="822960"/>
          </a:xfrm>
          <a:prstGeom prst="rect">
            <a:avLst/>
          </a:prstGeom>
          <a:solidFill>
            <a:srgbClr val="E8F5F5"/>
          </a:solidFill>
          <a:ln w="12700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50592" y="1097280"/>
            <a:ext cx="1965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50592" y="150418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(Post-Clean)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1051560"/>
            <a:ext cx="1965960" cy="822960"/>
          </a:xfrm>
          <a:prstGeom prst="rect">
            <a:avLst/>
          </a:prstGeom>
          <a:solidFill>
            <a:srgbClr val="E8F5F5"/>
          </a:solidFill>
          <a:ln w="12700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26864" y="1097280"/>
            <a:ext cx="1965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Yrs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26864" y="150418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 (1999–2008)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03136" y="1051560"/>
            <a:ext cx="1965960" cy="822960"/>
          </a:xfrm>
          <a:prstGeom prst="rect">
            <a:avLst/>
          </a:prstGeom>
          <a:solidFill>
            <a:srgbClr val="E8F5F5"/>
          </a:solidFill>
          <a:ln w="12700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03136" y="1097280"/>
            <a:ext cx="1965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03136" y="150418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Hospitals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Steps: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286000"/>
            <a:ext cx="1965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84048" y="2395728"/>
            <a:ext cx="347472" cy="347472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23957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" y="2761488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raw UCI dataset (101,766 rows × 50 cols). Notebook: 01_extraction.ipynb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50592" y="2286000"/>
            <a:ext cx="1965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0" y="2395728"/>
            <a:ext cx="347472" cy="347472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032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999232" y="23957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9464" y="2761488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'?' → NaN. Dropped Weight (&gt;90% null) &amp; Medical Specialty (&gt;40% null). Removed 3 duplicate rows.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26864" y="2286000"/>
            <a:ext cx="1965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36592" y="2395728"/>
            <a:ext cx="347472" cy="347472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36592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75504" y="23957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45736" y="2761488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Mid-point mapped age bins ([70-80) → 75). Mapped Admission Type IDs to readable strings (e.g., '1' → 'Emergency').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03136" y="2286000"/>
            <a:ext cx="1965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912864" y="2395728"/>
            <a:ext cx="347472" cy="347472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12864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51776" y="23957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22008" y="2761488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700+ ICD-9 codes into 17 clinical groups (Circulatory, Respiratory, Metabolic…) via Python dict logic. Capped meds at 99th percentile (43).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82203" y="3822192"/>
            <a:ext cx="5303520" cy="960120"/>
          </a:xfrm>
          <a:prstGeom prst="rect">
            <a:avLst/>
          </a:prstGeom>
          <a:solidFill>
            <a:srgbClr val="1E3030"/>
          </a:solidFill>
          <a:ln w="12700">
            <a:solidFill>
              <a:srgbClr val="2E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385876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 ICD-9 Diagnosis Mapping (02_cleaning.ipynb)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65760" y="40690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8DD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classify_icd9(code):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8DD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 = float(code)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8DD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390 &lt;= val &lt;= 459 or val == 785: return 'Circulatory'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8DD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460 &lt;= val &lt;= 519 or val == 786: return 'Respiratory'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8DD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return 'Other'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15000" y="3822192"/>
            <a:ext cx="3154680" cy="960120"/>
          </a:xfrm>
          <a:prstGeom prst="rect">
            <a:avLst/>
          </a:prstGeom>
          <a:solidFill>
            <a:srgbClr val="E8F5F5"/>
          </a:solidFill>
          <a:ln w="1270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779008" y="38587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Dictionary Fields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779008" y="407822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readmitted_under_30 — Binary target (1 = readmitted &lt;30 days)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prior_inpatient — Prior admissions in the past year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diag_1_group — Mapped ICD-9 clinical category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num_medications — Count of distinct drugs prescribed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4A4A"/>
          </a:solidFill>
          <a:ln w="12700">
            <a:solidFill>
              <a:srgbClr val="1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497433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School of Technology | DVA Capstone | Team G-10 (Section C)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229600" y="497433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G-10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64008" cy="822960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&amp; Metrics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Primary, Secondary, and Tertiary KPIs — linked to the business problem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777240"/>
          </a:xfrm>
          <a:prstGeom prst="rect">
            <a:avLst/>
          </a:prstGeom>
          <a:solidFill>
            <a:srgbClr val="E8F5F5"/>
          </a:solidFill>
          <a:ln w="12700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27432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101,763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52476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Encounters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777240"/>
          </a:xfrm>
          <a:prstGeom prst="rect">
            <a:avLst/>
          </a:prstGeom>
          <a:solidFill>
            <a:srgbClr val="E8F5F5"/>
          </a:solidFill>
          <a:ln w="12700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143000"/>
            <a:ext cx="27432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71,515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46120" y="152476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1097280"/>
            <a:ext cx="2743200" cy="777240"/>
          </a:xfrm>
          <a:prstGeom prst="rect">
            <a:avLst/>
          </a:prstGeom>
          <a:solidFill>
            <a:srgbClr val="FFF0E8"/>
          </a:solidFill>
          <a:ln w="12700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72200" y="1143000"/>
            <a:ext cx="27432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11.16%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72200" y="152476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011680"/>
            <a:ext cx="27432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011680"/>
            <a:ext cx="59436" cy="2697480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" y="2084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KPI: 30-Day Readmission Rate (%)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2359152"/>
            <a:ext cx="254203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Problem: Directly measures discharge failure and HRRP penalty risk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SUM(readmitted_under_30) / COUNT(encounters)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Computation: Python Pandas aggregations — notebook 03_eda.ipynb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Current rate 11.16%; target is &lt;9% post-intervention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2011680"/>
            <a:ext cx="27432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46120" y="2011680"/>
            <a:ext cx="59436" cy="2697480"/>
          </a:xfrm>
          <a:prstGeom prst="rect">
            <a:avLst/>
          </a:prstGeom>
          <a:solidFill>
            <a:srgbClr val="4AA8A8"/>
          </a:solidFill>
          <a:ln w="12700">
            <a:solidFill>
              <a:srgbClr val="4A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55848" y="2084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KPI: Average Length of Stay (LOS)</a:t>
            </a:r>
            <a:br>
              <a:rPr lang="en-US" sz="11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4992" y="2359152"/>
            <a:ext cx="254203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Problem: Shorter stays increase efficiency but may raise readmission risk if premature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AVG(time_in_hospital) across all encounters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Computation: Aggregated from encounter records; segmented by diagnosis group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Readmitted patients averaged 0.8 days longer than non-readmitted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0488" y="2011680"/>
            <a:ext cx="27432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72200" y="2011680"/>
            <a:ext cx="59436" cy="2697480"/>
          </a:xfrm>
          <a:prstGeom prst="rect">
            <a:avLst/>
          </a:prstGeom>
          <a:solidFill>
            <a:srgbClr val="6BBF9E"/>
          </a:solidFill>
          <a:ln w="12700">
            <a:solidFill>
              <a:srgbClr val="6BB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81928" y="2084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KPI: Medication Change Rate (%)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91072" y="2359152"/>
            <a:ext cx="254203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Problem: Acts as a proxy for clinical instability during the hospital encounter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SUM(change == 'Ch') / COUNT(encounters)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Computation: Derived from medication change field in 03_eda.ipynb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Change group had 11.82% readmission vs. 10.59% for no-change group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4A4A"/>
          </a:solidFill>
          <a:ln w="12700">
            <a:solidFill>
              <a:srgbClr val="1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97433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School of Technology | DVA Capstone | Team G-10 (Section C)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229600" y="497433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G-10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64008" cy="822960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Insights: Exploratory Data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to business language — from 03_eda.ipynb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9436" cy="1691640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78608" y="1097280"/>
            <a:ext cx="438912" cy="274320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78608" y="10972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15214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Returners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463040"/>
            <a:ext cx="2542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≥3 prior inpatient visits have a ~50% readmission rate — 4.5× higher than the general cohort average of 11.16%. This single segment drives disproportionate penalty exposure.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1097280"/>
            <a:ext cx="27432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72968" y="1097280"/>
            <a:ext cx="59436" cy="1691640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77256" y="1097280"/>
            <a:ext cx="438912" cy="274320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77256" y="10972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82696" y="115214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Circulatory Conditions Dominate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82696" y="1463040"/>
            <a:ext cx="2542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Circulatory diagnoses (heart failure, arrhythmia) account for ~30% of all 30-day returns. The 75–85 age group with circulatory comorbidities is the highest-volume risk cluster.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71616" y="1097280"/>
            <a:ext cx="27432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71616" y="1097280"/>
            <a:ext cx="59436" cy="1691640"/>
          </a:xfrm>
          <a:prstGeom prst="rect">
            <a:avLst/>
          </a:prstGeom>
          <a:solidFill>
            <a:srgbClr val="4AA8A8"/>
          </a:solidFill>
          <a:ln w="12700">
            <a:solidFill>
              <a:srgbClr val="4A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75904" y="1097280"/>
            <a:ext cx="438912" cy="274320"/>
          </a:xfrm>
          <a:prstGeom prst="rect">
            <a:avLst/>
          </a:prstGeom>
          <a:solidFill>
            <a:srgbClr val="4AA8A8"/>
          </a:solidFill>
          <a:ln w="12700">
            <a:solidFill>
              <a:srgbClr val="4A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75904" y="10972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81344" y="115214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Young-Adult Risk Paradox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81344" y="1463040"/>
            <a:ext cx="2542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risk peak exists at age 25–35, likely driven by unmanaged Type 1 Diabetes and a failure in outpatient support systems for young adults post-discharge.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4038" y="2912364"/>
            <a:ext cx="27432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59436" cy="1691640"/>
          </a:xfrm>
          <a:prstGeom prst="rect">
            <a:avLst/>
          </a:prstGeom>
          <a:solidFill>
            <a:srgbClr val="4AA8A8"/>
          </a:solidFill>
          <a:ln w="12700">
            <a:solidFill>
              <a:srgbClr val="4A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78608" y="2926080"/>
            <a:ext cx="438912" cy="274320"/>
          </a:xfrm>
          <a:prstGeom prst="rect">
            <a:avLst/>
          </a:prstGeom>
          <a:solidFill>
            <a:srgbClr val="4AA8A8"/>
          </a:solidFill>
          <a:ln w="12700">
            <a:solidFill>
              <a:srgbClr val="4A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78608" y="29260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" y="298094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Mid-Length Stay Is the Danger Zone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" y="3291840"/>
            <a:ext cx="2542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readmissions occur among patients who stayed 4–7 days — not extreme outliers. This 'mid-length' window is the critical discharge planning moment.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72968" y="2926080"/>
            <a:ext cx="27432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172968" y="2926080"/>
            <a:ext cx="59436" cy="1691640"/>
          </a:xfrm>
          <a:prstGeom prst="rect">
            <a:avLst/>
          </a:prstGeom>
          <a:solidFill>
            <a:srgbClr val="6BBF9E"/>
          </a:solidFill>
          <a:ln w="12700">
            <a:solidFill>
              <a:srgbClr val="6BB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77256" y="2926080"/>
            <a:ext cx="438912" cy="274320"/>
          </a:xfrm>
          <a:prstGeom prst="rect">
            <a:avLst/>
          </a:prstGeom>
          <a:solidFill>
            <a:srgbClr val="6BBF9E"/>
          </a:solidFill>
          <a:ln w="12700">
            <a:solidFill>
              <a:srgbClr val="6BB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77256" y="29260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82696" y="298094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Complexity = Risk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82696" y="3291840"/>
            <a:ext cx="2542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correlation between number of medications and readmission status. More drugs signal more complex patients — 20+ medications increases risk materially.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71616" y="2926080"/>
            <a:ext cx="27432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71616" y="2926080"/>
            <a:ext cx="59436" cy="1691640"/>
          </a:xfrm>
          <a:prstGeom prst="rect">
            <a:avLst/>
          </a:prstGeom>
          <a:solidFill>
            <a:srgbClr val="6BBF9E"/>
          </a:solidFill>
          <a:ln w="12700">
            <a:solidFill>
              <a:srgbClr val="6BB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375904" y="2926080"/>
            <a:ext cx="438912" cy="274320"/>
          </a:xfrm>
          <a:prstGeom prst="rect">
            <a:avLst/>
          </a:prstGeom>
          <a:solidFill>
            <a:srgbClr val="6BBF9E"/>
          </a:solidFill>
          <a:ln w="12700">
            <a:solidFill>
              <a:srgbClr val="6BB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375904" y="29260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81344" y="298094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Admissions Lead Risk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81344" y="3291840"/>
            <a:ext cx="2542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53.05% of all encounters are Emergency admissions. ER-based readmissions are more likely to involve Circulatory and Metabolic diagnoses than elective admissions.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4A4A"/>
          </a:solidFill>
          <a:ln w="12700">
            <a:solidFill>
              <a:srgbClr val="1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4320" y="497433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School of Technology | DVA Capstone | Team G-10 (Section C)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229600" y="497433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G-10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64008" cy="822960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Analysis: Statistical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· Feature Importance · Segmentation — scipy, statsmodels, sklearn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9377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59436" cy="1115568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1207008"/>
            <a:ext cx="1005840" cy="256032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0" y="1207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481328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whether prior inpatient visit count differs significantly between readmitted vs. non-readmitted groups. Result confirms prior history is the single strongest clinical predictor of return visits.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9377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59436" cy="1115568"/>
          </a:xfrm>
          <a:prstGeom prst="rect">
            <a:avLst/>
          </a:prstGeom>
          <a:solidFill>
            <a:srgbClr val="4AA8A8"/>
          </a:solidFill>
          <a:ln w="12700">
            <a:solidFill>
              <a:srgbClr val="4A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441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T-Test (Length of Stay)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0" y="2441448"/>
            <a:ext cx="1005840" cy="256032"/>
          </a:xfrm>
          <a:prstGeom prst="rect">
            <a:avLst/>
          </a:prstGeom>
          <a:solidFill>
            <a:srgbClr val="4AA8A8"/>
          </a:solidFill>
          <a:ln w="12700">
            <a:solidFill>
              <a:srgbClr val="4A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0" y="24414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+0.8 days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715768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Readmitted patients had an average LOS 0.8 days longer than non-readmitted. Insight: Longer stays reflect higher underlying patient severity — they are NOT preventing readmissions.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611880"/>
            <a:ext cx="49377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611880"/>
            <a:ext cx="59436" cy="1115568"/>
          </a:xfrm>
          <a:prstGeom prst="rect">
            <a:avLst/>
          </a:prstGeom>
          <a:solidFill>
            <a:srgbClr val="6BBF9E"/>
          </a:solidFill>
          <a:ln w="12700">
            <a:solidFill>
              <a:srgbClr val="6BB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675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(Admission Type)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0" y="3675888"/>
            <a:ext cx="1005840" cy="256032"/>
          </a:xfrm>
          <a:prstGeom prst="rect">
            <a:avLst/>
          </a:prstGeom>
          <a:solidFill>
            <a:srgbClr val="6BBF9E"/>
          </a:solidFill>
          <a:ln w="12700">
            <a:solidFill>
              <a:srgbClr val="6BB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0" y="36758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950208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statistically significant association between admission type (Emergency vs. Elective) and 30-day readmission status. Emergency admissions carry materially higher return risk.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94960" y="1143000"/>
            <a:ext cx="3474720" cy="1828800"/>
          </a:xfrm>
          <a:prstGeom prst="rect">
            <a:avLst/>
          </a:prstGeom>
          <a:solidFill>
            <a:srgbClr val="E8F5F5"/>
          </a:solidFill>
          <a:ln w="1270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0" y="1207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Feature Importance (sklearn)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1536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Inpatient Visits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360920" y="1572768"/>
            <a:ext cx="1325880" cy="128016"/>
          </a:xfrm>
          <a:prstGeom prst="rect">
            <a:avLst/>
          </a:prstGeom>
          <a:solidFill>
            <a:srgbClr val="E0EEEE"/>
          </a:solidFill>
          <a:ln w="12700">
            <a:solidFill>
              <a:srgbClr val="E0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60920" y="1572768"/>
            <a:ext cx="1325880" cy="128016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0" y="17922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Num. Lab Procedures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60920" y="1828800"/>
            <a:ext cx="1325880" cy="128016"/>
          </a:xfrm>
          <a:prstGeom prst="rect">
            <a:avLst/>
          </a:prstGeom>
          <a:solidFill>
            <a:srgbClr val="E0EEEE"/>
          </a:solidFill>
          <a:ln w="12700">
            <a:solidFill>
              <a:srgbClr val="E0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60920" y="1828800"/>
            <a:ext cx="1034186" cy="128016"/>
          </a:xfrm>
          <a:prstGeom prst="rect">
            <a:avLst/>
          </a:prstGeom>
          <a:solidFill>
            <a:srgbClr val="4AA8A8"/>
          </a:solidFill>
          <a:ln w="12700">
            <a:solidFill>
              <a:srgbClr val="4A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0" y="2048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Medications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360920" y="2084832"/>
            <a:ext cx="1325880" cy="128016"/>
          </a:xfrm>
          <a:prstGeom prst="rect">
            <a:avLst/>
          </a:prstGeom>
          <a:solidFill>
            <a:srgbClr val="E0EEEE"/>
          </a:solidFill>
          <a:ln w="12700">
            <a:solidFill>
              <a:srgbClr val="E0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360920" y="2084832"/>
            <a:ext cx="861822" cy="128016"/>
          </a:xfrm>
          <a:prstGeom prst="rect">
            <a:avLst/>
          </a:prstGeom>
          <a:solidFill>
            <a:srgbClr val="6BBF9E"/>
          </a:solidFill>
          <a:ln w="12700">
            <a:solidFill>
              <a:srgbClr val="6BB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0" y="2304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 Hospital (LOS)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360920" y="2340864"/>
            <a:ext cx="1325880" cy="128016"/>
          </a:xfrm>
          <a:prstGeom prst="rect">
            <a:avLst/>
          </a:prstGeom>
          <a:solidFill>
            <a:srgbClr val="E0EEEE"/>
          </a:solidFill>
          <a:ln w="12700">
            <a:solidFill>
              <a:srgbClr val="E0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360920" y="2340864"/>
            <a:ext cx="689458" cy="12801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0" y="2560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(Midpoint)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360920" y="2596896"/>
            <a:ext cx="1325880" cy="128016"/>
          </a:xfrm>
          <a:prstGeom prst="rect">
            <a:avLst/>
          </a:prstGeom>
          <a:solidFill>
            <a:srgbClr val="E0EEEE"/>
          </a:solidFill>
          <a:ln w="12700">
            <a:solidFill>
              <a:srgbClr val="E0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360920" y="2596896"/>
            <a:ext cx="530352" cy="12801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394960" y="3063240"/>
            <a:ext cx="34747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394960" y="3063240"/>
            <a:ext cx="59436" cy="1645920"/>
          </a:xfrm>
          <a:prstGeom prst="rect">
            <a:avLst/>
          </a:prstGeom>
          <a:solidFill>
            <a:srgbClr val="6BBF9E"/>
          </a:solidFill>
          <a:ln w="12700">
            <a:solidFill>
              <a:srgbClr val="6BB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532120" y="31272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Understanding from Advanced Analysis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32120" y="3401568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visits is not just correlated — it is 4.5× more predictive than any demographic variable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LOS does NOT reduce readmissions — it reflects severity, not quality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admission + Circulatory diagnosis = highest-risk compound segment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scipy.stats (U-test, t-test), sklearn (Random Forest), pandas (aggregations)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4A4A"/>
          </a:solidFill>
          <a:ln w="12700">
            <a:solidFill>
              <a:srgbClr val="1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497433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School of Technology | DVA Capstone | Team G-10 (Section C)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229600" y="497433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G-10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150876"/>
            <a:ext cx="64008" cy="822960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256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Walkthrough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63132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decision support suite — built for CMO, CFO &amp; Discharge Planners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66262"/>
            <a:ext cx="8503920" cy="0"/>
          </a:xfrm>
          <a:prstGeom prst="line">
            <a:avLst/>
          </a:prstGeom>
          <a:noFill/>
          <a:ln w="1270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43200" cy="502920"/>
          </a:xfrm>
          <a:prstGeom prst="rect">
            <a:avLst/>
          </a:prstGeom>
          <a:solidFill>
            <a:srgbClr val="1A4A4A"/>
          </a:solidFill>
          <a:ln w="12700">
            <a:solidFill>
              <a:srgbClr val="1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338328" cy="33832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6128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12471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6384" y="13533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CEO sees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581912"/>
            <a:ext cx="27432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1673352"/>
            <a:ext cx="254203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header cards: 11.16% readmission rate, 101,763 encounters, Avg. LOS 4.4 days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Age-segmented readmission bar chart — highlights 75–85 peak and 25–35 secondary peak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breakdown showing Caucasian vs. African-American volume differences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filters: Age Range, Race, Admission Source — updates all views in &lt;1 sec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2968" y="1078992"/>
            <a:ext cx="2743200" cy="502920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64408" y="1161288"/>
            <a:ext cx="338328" cy="33832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64408" y="116128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85032" y="112471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Risk Analysis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85032" y="13533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analyst drills into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72968" y="1581912"/>
            <a:ext cx="27432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82696" y="1673352"/>
            <a:ext cx="254203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 of diagnosis groups — sized by encounter count, colored by readmission rate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visits bar chart: 0 visits = 10%, 3+ visits = ~50% readmission rate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type breakdown: Emergency (53%) vs. Urgent vs. Elective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Interactive: clicking 'Emergency' updates diagnosis treemap for ER-only view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71616" y="1078992"/>
            <a:ext cx="2743200" cy="502920"/>
          </a:xfrm>
          <a:prstGeom prst="rect">
            <a:avLst/>
          </a:prstGeom>
          <a:solidFill>
            <a:srgbClr val="6BBF9E"/>
          </a:solidFill>
          <a:ln w="12700">
            <a:solidFill>
              <a:srgbClr val="6BB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63056" y="1161288"/>
            <a:ext cx="338328" cy="33832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63056" y="116128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112471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View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0" y="13533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signal deep-dive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71616" y="1581912"/>
            <a:ext cx="2743200" cy="2967228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81344" y="1673352"/>
            <a:ext cx="254203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change effect: Changed = 11.82% vs. No Change = 10.59% readmission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dosage breakdown: Down 13.9% · Up 13.0% · Steady 11.1% · None 10.0%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Down-titrated insulin is the highest single treatment risk signal identified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Isolate insulin-adjusted patients to view their diagnosis group profile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8036" y="4663440"/>
            <a:ext cx="8595360" cy="292608"/>
          </a:xfrm>
          <a:prstGeom prst="rect">
            <a:avLst/>
          </a:prstGeom>
          <a:solidFill>
            <a:srgbClr val="E8F5F5"/>
          </a:solidFill>
          <a:ln w="1270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3419" y="463143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</a:t>
            </a:r>
            <a:r>
              <a:rPr lang="en-US" sz="850" b="1" dirty="0" err="1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URL:https</a:t>
            </a:r>
            <a:r>
              <a:rPr lang="en-US" sz="8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://</a:t>
            </a:r>
            <a:r>
              <a:rPr lang="en-US" sz="850" b="1" dirty="0" err="1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public.tableau.com</a:t>
            </a:r>
            <a:r>
              <a:rPr lang="en-US" sz="8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/app/profile/ayush.mittal4873/viz/DVACapstoneDiabetesReadmissionAnalysis_v2025_3/</a:t>
            </a:r>
            <a:r>
              <a:rPr lang="en-US" sz="850" b="1" dirty="0" err="1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Dashboard_Executive_Overview?publish</a:t>
            </a:r>
            <a:r>
              <a:rPr lang="en-US" sz="8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=yes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4A4A"/>
          </a:solidFill>
          <a:ln w="12700">
            <a:solidFill>
              <a:srgbClr val="1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97433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School of Technology | DVA Capstone | Team G-10 (Section C)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229600" y="497433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G-10</a:t>
            </a:r>
            <a:endParaRPr lang="en-US" sz="700" dirty="0"/>
          </a:p>
        </p:txBody>
      </p:sp>
      <p:pic>
        <p:nvPicPr>
          <p:cNvPr id="33" name="Picture 32" descr="A screenshot of a graph&#10;&#10;AI-generated content may be incorrect.">
            <a:extLst>
              <a:ext uri="{FF2B5EF4-FFF2-40B4-BE49-F238E27FC236}">
                <a16:creationId xmlns:a16="http://schemas.microsoft.com/office/drawing/2014/main" id="{B1F18C55-CAB9-CE90-7AA1-6B9100D0E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9" y="3223960"/>
            <a:ext cx="2197603" cy="1343468"/>
          </a:xfrm>
          <a:prstGeom prst="rect">
            <a:avLst/>
          </a:prstGeom>
        </p:spPr>
      </p:pic>
      <p:pic>
        <p:nvPicPr>
          <p:cNvPr id="35" name="Picture 34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6AB77078-8FF0-17D0-0447-80131B719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288" y="3197860"/>
            <a:ext cx="2335424" cy="1408430"/>
          </a:xfrm>
          <a:prstGeom prst="rect">
            <a:avLst/>
          </a:prstGeom>
        </p:spPr>
      </p:pic>
      <p:pic>
        <p:nvPicPr>
          <p:cNvPr id="37" name="Picture 3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549AB2-74D6-34B7-E6E1-EFC806F4F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3149400"/>
            <a:ext cx="2357338" cy="14474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64008" cy="822960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Insight to Action: Three Targeted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recommendation traces directly from a statistical finding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59436" cy="1115568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93192" y="1225296"/>
            <a:ext cx="347472" cy="347472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Follow-up Program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1527048"/>
            <a:ext cx="2697480" cy="621792"/>
          </a:xfrm>
          <a:prstGeom prst="rect">
            <a:avLst/>
          </a:prstGeom>
          <a:solidFill>
            <a:srgbClr val="E8F5F5"/>
          </a:solidFill>
          <a:ln w="635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55448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Insight
</a:t>
            </a: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(Slide 5): Patients with ≥3 prior inpatient visits have a ~50% readmission rate — 4.5× the cohort average.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82112" y="1527048"/>
            <a:ext cx="2697480" cy="621792"/>
          </a:xfrm>
          <a:prstGeom prst="rect">
            <a:avLst/>
          </a:prstGeom>
          <a:solidFill>
            <a:srgbClr val="F0FFF0"/>
          </a:solidFill>
          <a:ln w="635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46120" y="155448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Recommendation
</a:t>
            </a: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Implement a mandatory 48-hour post-discharge nurse callback program for all patients flagged with ≥3 prior inpatient visits. Flag this automatically in the EMR system at admission.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16752" y="1527048"/>
            <a:ext cx="2697480" cy="621792"/>
          </a:xfrm>
          <a:prstGeom prst="rect">
            <a:avLst/>
          </a:prstGeom>
          <a:solidFill>
            <a:srgbClr val="FFF8E8"/>
          </a:solidFill>
          <a:ln w="635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0760" y="155448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
</a:t>
            </a: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High | Feasibility: Easy | Est. prevention of up to 40% of avoidable early returns in this segment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350008"/>
            <a:ext cx="85953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350008"/>
            <a:ext cx="59436" cy="1115568"/>
          </a:xfrm>
          <a:prstGeom prst="rect">
            <a:avLst/>
          </a:prstGeom>
          <a:solidFill>
            <a:srgbClr val="4AA8A8"/>
          </a:solidFill>
          <a:ln w="12700">
            <a:solidFill>
              <a:srgbClr val="4A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93192" y="2459736"/>
            <a:ext cx="347472" cy="347472"/>
          </a:xfrm>
          <a:prstGeom prst="ellipse">
            <a:avLst/>
          </a:prstGeom>
          <a:solidFill>
            <a:srgbClr val="4AA8A8"/>
          </a:solidFill>
          <a:ln w="12700">
            <a:solidFill>
              <a:srgbClr val="4A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3192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2441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Heart-Diabetes Clinical Pathway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2761488"/>
            <a:ext cx="2697480" cy="621792"/>
          </a:xfrm>
          <a:prstGeom prst="rect">
            <a:avLst/>
          </a:prstGeom>
          <a:solidFill>
            <a:srgbClr val="E8F5F5"/>
          </a:solidFill>
          <a:ln w="635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278892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4A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
</a:t>
            </a: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(Slide 5 &amp; 6): Circulatory comorbidities drive ~30% of all 30-day returns, especially in the 75–85 age cohort.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182112" y="2761488"/>
            <a:ext cx="2697480" cy="621792"/>
          </a:xfrm>
          <a:prstGeom prst="rect">
            <a:avLst/>
          </a:prstGeom>
          <a:solidFill>
            <a:srgbClr val="F0FFF0"/>
          </a:solidFill>
          <a:ln w="635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46120" y="278892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4A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
</a:t>
            </a: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Develop a specialized 'Heart-Diabetes' discharge checklist. Mandate secondary review by a clinical pharmacist for all Circulatory-flagged patients before discharge authorization.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16752" y="2761488"/>
            <a:ext cx="2697480" cy="621792"/>
          </a:xfrm>
          <a:prstGeom prst="rect">
            <a:avLst/>
          </a:prstGeom>
          <a:solidFill>
            <a:srgbClr val="FFF8E8"/>
          </a:solidFill>
          <a:ln w="635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80760" y="278892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4A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Expected Impact
</a:t>
            </a: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High | Feasibility: Medium | Targets the single largest diagnosis driver of readmissions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3584448"/>
            <a:ext cx="85953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584448"/>
            <a:ext cx="59436" cy="1115568"/>
          </a:xfrm>
          <a:prstGeom prst="rect">
            <a:avLst/>
          </a:prstGeom>
          <a:solidFill>
            <a:srgbClr val="6BBF9E"/>
          </a:solidFill>
          <a:ln w="12700">
            <a:solidFill>
              <a:srgbClr val="6BB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93192" y="3694176"/>
            <a:ext cx="347472" cy="347472"/>
          </a:xfrm>
          <a:prstGeom prst="ellipse">
            <a:avLst/>
          </a:prstGeom>
          <a:solidFill>
            <a:srgbClr val="6BBF9E"/>
          </a:solidFill>
          <a:ln w="12700">
            <a:solidFill>
              <a:srgbClr val="6BB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3192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36758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Stability Signoff Rule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" y="3995928"/>
            <a:ext cx="2697480" cy="621792"/>
          </a:xfrm>
          <a:prstGeom prst="rect">
            <a:avLst/>
          </a:prstGeom>
          <a:solidFill>
            <a:srgbClr val="E8F5F5"/>
          </a:solidFill>
          <a:ln w="635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402336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6B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Insight
</a:t>
            </a: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(Slide 6): Down-titrated insulin = 13.9% readmission rate — the highest single treatment signal. Medication changes broadly elevate risk from 10.59% → 11.82%.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82112" y="3995928"/>
            <a:ext cx="2697480" cy="621792"/>
          </a:xfrm>
          <a:prstGeom prst="rect">
            <a:avLst/>
          </a:prstGeom>
          <a:solidFill>
            <a:srgbClr val="F0FFF0"/>
          </a:solidFill>
          <a:ln w="635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46120" y="402336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6B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
</a:t>
            </a: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Require attending physician signoff if a patient's insulin is down-titrated within 24 hours of planned discharge. Mandate pharmacist review for all 'Changed' medication encounters.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016752" y="3995928"/>
            <a:ext cx="2697480" cy="621792"/>
          </a:xfrm>
          <a:prstGeom prst="rect">
            <a:avLst/>
          </a:prstGeom>
          <a:solidFill>
            <a:srgbClr val="FFF8E8"/>
          </a:solidFill>
          <a:ln w="635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80760" y="402336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6B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
</a:t>
            </a:r>
            <a:r>
              <a:rPr lang="en-US" sz="8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Medium | Feasibility: Easy | Directly addresses the highest-risk treatment instability marker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4A4A"/>
          </a:solidFill>
          <a:ln w="12700">
            <a:solidFill>
              <a:srgbClr val="1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497433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School of Technology | DVA Capstone | Team G-10 (Section C)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229600" y="497433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G-10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64008" cy="822960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Value: The Business Case for 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savings, efficiency gains, and cost of inaction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1463040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8105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HRRP Penalty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578608"/>
            <a:ext cx="2743200" cy="1097280"/>
          </a:xfrm>
          <a:prstGeom prst="rect">
            <a:avLst/>
          </a:prstGeom>
          <a:solidFill>
            <a:srgbClr val="F7FAFA"/>
          </a:solidFill>
          <a:ln w="1270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633472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reduction in 30-day readmissions eliminates this much in regulatory penalties per hospital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115568"/>
            <a:ext cx="2743200" cy="1463040"/>
          </a:xfrm>
          <a:prstGeom prst="rect">
            <a:avLst/>
          </a:prstGeom>
          <a:solidFill>
            <a:srgbClr val="4AA8A8"/>
          </a:solidFill>
          <a:ln w="12700">
            <a:solidFill>
              <a:srgbClr val="4AA8A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18688" y="1188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18688" y="18105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Bed-Days Freed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8688" y="2615184"/>
            <a:ext cx="2743200" cy="1097280"/>
          </a:xfrm>
          <a:prstGeom prst="rect">
            <a:avLst/>
          </a:prstGeom>
          <a:solidFill>
            <a:srgbClr val="F7FAFA"/>
          </a:solidFill>
          <a:ln w="1270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0128" y="2633472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avoidable returns releases ~0.2 days per patient stay across the full encounter volume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7336" y="1115568"/>
            <a:ext cx="2743200" cy="1463040"/>
          </a:xfrm>
          <a:prstGeom prst="rect">
            <a:avLst/>
          </a:prstGeom>
          <a:solidFill>
            <a:srgbClr val="6BBF9E"/>
          </a:solidFill>
          <a:ln w="12700">
            <a:solidFill>
              <a:srgbClr val="6BBF9E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17336" y="1188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17336" y="18105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Returns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587752"/>
            <a:ext cx="2743200" cy="1097280"/>
          </a:xfrm>
          <a:prstGeom prst="rect">
            <a:avLst/>
          </a:prstGeom>
          <a:solidFill>
            <a:srgbClr val="F7FAFA"/>
          </a:solidFill>
          <a:ln w="1270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08776" y="2633472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nurse callbacks to the '≥3 prior visits' cohort could prevent up to 40% of early readmissions in that group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49040"/>
            <a:ext cx="850392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C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749040"/>
            <a:ext cx="59436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785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75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Cost of Inaction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the current 11.16% readmission rate ensures ongoing HRRP margin compression, declining hospital quality ratings, and continued unnecessary patient harm. Every 30-day readmission that could have been prevented represents a direct failure in the duty of care — and an avoidable financial penalty. The cost of inaction compounds annually.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4A4A"/>
          </a:solidFill>
          <a:ln w="12700">
            <a:solidFill>
              <a:srgbClr val="1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97433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School of Technology | DVA Capstone | Team G-10 (Section C)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229600" y="497433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G-10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64008" cy="822960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cannot tell us — and what we build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206240" cy="347472"/>
          </a:xfrm>
          <a:prstGeom prst="rect">
            <a:avLst/>
          </a:prstGeom>
          <a:solidFill>
            <a:srgbClr val="1A4A4A"/>
          </a:solidFill>
          <a:ln w="12700">
            <a:solidFill>
              <a:srgbClr val="1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59436" cy="713232"/>
          </a:xfrm>
          <a:prstGeom prst="rect">
            <a:avLst/>
          </a:prstGeom>
          <a:solidFill>
            <a:srgbClr val="CCAAAA"/>
          </a:solidFill>
          <a:ln w="12700">
            <a:solidFill>
              <a:srgbClr val="CC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536192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SDOH 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1755648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lacks ZIP codes, income levels, and Social Determinants of Health — known to be strong hidden drivers of readmission that are absent from our model.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59436" cy="713232"/>
          </a:xfrm>
          <a:prstGeom prst="rect">
            <a:avLst/>
          </a:prstGeom>
          <a:solidFill>
            <a:srgbClr val="CCAAAA"/>
          </a:solidFill>
          <a:ln w="12700">
            <a:solidFill>
              <a:srgbClr val="CC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340864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Mortality Data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56032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out-of-hospital death records may artificially lower the readmission rate for high-severity patients who never returned because they passed away.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090672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090672"/>
            <a:ext cx="59436" cy="713232"/>
          </a:xfrm>
          <a:prstGeom prst="rect">
            <a:avLst/>
          </a:prstGeom>
          <a:solidFill>
            <a:srgbClr val="CCAAAA"/>
          </a:solidFill>
          <a:ln w="12700">
            <a:solidFill>
              <a:srgbClr val="CC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3145536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Design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364992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historical data (1999–2008) may not reflect current treatment protocols, insurance structures, or post-ACA care patterns at US hospitals.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895344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895344"/>
            <a:ext cx="59436" cy="713232"/>
          </a:xfrm>
          <a:prstGeom prst="rect">
            <a:avLst/>
          </a:prstGeom>
          <a:solidFill>
            <a:srgbClr val="CCAAAA"/>
          </a:solidFill>
          <a:ln w="12700">
            <a:solidFill>
              <a:srgbClr val="CC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3950208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Outpatient Follow-up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4169664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only captures inpatient encounters. We cannot measure whether patients received post-discharge care or had access to primary care providers.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4206240" cy="347472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10789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Findings &amp; Next Steps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481328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36592" y="1682496"/>
            <a:ext cx="292608" cy="292608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36592" y="1682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84064" y="15453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Predictive Model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84064" y="18013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XGBoost classifier that flags high-risk patients at the moment of admission — enabling proactive rather than reactive discharge planning. Incorporate EMR text notes via NLP.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4663440" y="2286000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36592" y="2487168"/>
            <a:ext cx="292608" cy="292608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36592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84064" y="2350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SDOH Data Integration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84064" y="2606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with ZIP-code-level income and healthcare access data to model social risk alongside clinical risk. Map 'Readmission Hotspots' geographically by city and neighborhood.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663440" y="3090672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36592" y="3291840"/>
            <a:ext cx="292608" cy="292608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3659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84064" y="3154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Dataset Scope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84064" y="34107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post-2008 data to capture ACA-era changes, telemedicine adoption, and updated diabetes treatment protocols. Move from retrospective to near-real-time analysis.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663440" y="3895344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36592" y="4096512"/>
            <a:ext cx="292608" cy="292608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36592" y="4096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84064" y="3959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Tableau + EMR Integration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084064" y="42153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3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Tableau to live EMR feeds for real-time dashboard updates. Move from static historical reporting to proactive prevention — alert discharge planners at the bedside.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4A4A"/>
          </a:solidFill>
          <a:ln w="12700">
            <a:solidFill>
              <a:srgbClr val="1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4320" y="497433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School of Technology | DVA Capstone | Team G-10 (Section C)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229600" y="497433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2160</Words>
  <Application>Microsoft Macintosh PowerPoint</Application>
  <PresentationFormat>On-screen Show (16:9)</PresentationFormat>
  <Paragraphs>233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Readmission Analysis - G10</dc:title>
  <dc:subject>PptxGenJS Presentation</dc:subject>
  <dc:creator>PptxGenJS</dc:creator>
  <cp:lastModifiedBy>Dhanvin Vadlamudi</cp:lastModifiedBy>
  <cp:revision>3</cp:revision>
  <dcterms:created xsi:type="dcterms:W3CDTF">2026-04-29T11:00:35Z</dcterms:created>
  <dcterms:modified xsi:type="dcterms:W3CDTF">2026-04-29T15:29:38Z</dcterms:modified>
</cp:coreProperties>
</file>